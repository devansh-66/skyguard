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PS26073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Title– AI/ML based anomaly detection in Automatic Weather Station data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Theme– &lt;THEME AS LISTED ON THE SIH PORTAL&gt;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ID– &lt;TEAM ID&gt;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portal)– &lt;TEAM NAME&gt;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SKYGUARD: AWS DATA QUALITY CONTROL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572768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Four stages: remove the expected daily and seasonal cycle, compare the station against its nearest neighbours, score what is left with an unsupervised model, then name the likely fault from its shape.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Uses only the three fields the problem statement provides — temperature, pressure and relative humidity. No extra instrument is assumed.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Two tiers: a physical-plausibility screen on the station node itself, and everything that needs neighbouring stations on one server.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Separates a faulty sensor from real weather by asking whether the neighbouring stations moved in the same direction at the same time.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Every alert names a probable cause with a confidence — stuck probe, drift, step offset, dropout — instead of raising a bare flag.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Alert volume is held to a fixed budget per station per week, so the output stays small enough for an operator to actually read.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Innovation and uniqueness of the solution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The baseline is frozen on an approved reference window and never refitted on live data: a self-updating baseline quietly absorbs slow drift and hides the very fault it should expose.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Dew point is used as a physical cross-check — heating a probe raises temperature and lowers humidity but leaves dew point where it was, which separates a shield or siting fault from genuinely warmer air.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Answering “unknown” when the evidence supports no cause is a designed output, not a failure.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389888"/>
            <a:ext cx="1110996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Python — NumPy, pandas and scikit-learn for the residual, detection and classification stages. No GPU and no model server.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FastAPI service with a browser operator console; Leaflet map on satellite imagery with the official India boundary served by NCMRWF (MoES).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Station node: ESP32-class microcontroller with a BME280 temperature / pressure / humidity sensor. PostgreSQL with TimescaleDB for storage.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The station tier holds only constant-size state, so no history buffer or model runtime is needed on the node; thresholds are calibrated on a clean reference period before deployment.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1" name="Flow 1"/>
          <p:cNvSpPr/>
          <p:nvPr/>
        </p:nvSpPr>
        <p:spPr>
          <a:xfrm>
            <a:off x="658368" y="4315968"/>
            <a:ext cx="1955535" cy="96012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>
            <a:noFill/>
          </a:ln>
        </p:spPr>
        <p:txBody>
          <a:bodyPr lIns="54000" rIns="54000" tIns="45720" bIns="45720" anchor="ctr" wrap="square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STATION NODE</a:t>
            </a:r>
          </a:p>
          <a:p>
            <a:pPr algn="ctr">
              <a:buNone/>
            </a:pPr>
            <a:r>
              <a:rPr lang="en-US" sz="900" dirty="0">
                <a:solidFill>
                  <a:srgbClr val="D6E4F0"/>
                </a:solidFill>
                <a:latin typeface="Arial" pitchFamily="34" charset="0"/>
                <a:cs typeface="Arial" pitchFamily="34" charset="0"/>
              </a:rPr>
              <a:t>range · rate · stuck-value screen</a:t>
            </a:r>
          </a:p>
        </p:txBody>
      </p:sp>
      <p:sp>
        <p:nvSpPr>
          <p:cNvPr id="902" name="Arrow 1"/>
          <p:cNvSpPr/>
          <p:nvPr/>
        </p:nvSpPr>
        <p:spPr>
          <a:xfrm>
            <a:off x="2655051" y="4718304"/>
            <a:ext cx="192024" cy="155448"/>
          </a:xfrm>
          <a:prstGeom prst="rightArrow">
            <a:avLst/>
          </a:prstGeom>
          <a:solidFill>
            <a:srgbClr val="9AB7D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Flow 2"/>
          <p:cNvSpPr/>
          <p:nvPr/>
        </p:nvSpPr>
        <p:spPr>
          <a:xfrm>
            <a:off x="2888223" y="4315968"/>
            <a:ext cx="1955535" cy="960120"/>
          </a:xfrm>
          <a:prstGeom prst="roundRect">
            <a:avLst>
              <a:gd name="adj" fmla="val 14000"/>
            </a:avLst>
          </a:prstGeom>
          <a:solidFill>
            <a:srgbClr val="2E75B6"/>
          </a:solidFill>
          <a:ln>
            <a:noFill/>
          </a:ln>
        </p:spPr>
        <p:txBody>
          <a:bodyPr lIns="54000" rIns="54000" tIns="45720" bIns="45720" anchor="ctr" wrap="square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REMOVE CYCLE</a:t>
            </a:r>
          </a:p>
          <a:p>
            <a:pPr algn="ctr">
              <a:buNone/>
            </a:pPr>
            <a:r>
              <a:rPr lang="en-US" sz="900" dirty="0">
                <a:solidFill>
                  <a:srgbClr val="D6E4F0"/>
                </a:solidFill>
                <a:latin typeface="Arial" pitchFamily="34" charset="0"/>
                <a:cs typeface="Arial" pitchFamily="34" charset="0"/>
              </a:rPr>
              <a:t>frozen daily + seasonal baseline</a:t>
            </a:r>
          </a:p>
        </p:txBody>
      </p:sp>
      <p:sp>
        <p:nvSpPr>
          <p:cNvPr id="904" name="Arrow 2"/>
          <p:cNvSpPr/>
          <p:nvPr/>
        </p:nvSpPr>
        <p:spPr>
          <a:xfrm>
            <a:off x="4884907" y="4718304"/>
            <a:ext cx="192024" cy="155448"/>
          </a:xfrm>
          <a:prstGeom prst="rightArrow">
            <a:avLst/>
          </a:prstGeom>
          <a:solidFill>
            <a:srgbClr val="9AB7D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" name="Flow 3"/>
          <p:cNvSpPr/>
          <p:nvPr/>
        </p:nvSpPr>
        <p:spPr>
          <a:xfrm>
            <a:off x="5118079" y="4315968"/>
            <a:ext cx="1955535" cy="960120"/>
          </a:xfrm>
          <a:prstGeom prst="roundRect">
            <a:avLst>
              <a:gd name="adj" fmla="val 14000"/>
            </a:avLst>
          </a:prstGeom>
          <a:solidFill>
            <a:srgbClr val="2E75B6"/>
          </a:solidFill>
          <a:ln>
            <a:noFill/>
          </a:ln>
        </p:spPr>
        <p:txBody>
          <a:bodyPr lIns="54000" rIns="54000" tIns="45720" bIns="45720" anchor="ctr" wrap="square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COMPARE NEIGHBOURS</a:t>
            </a:r>
          </a:p>
          <a:p>
            <a:pPr algn="ctr">
              <a:buNone/>
            </a:pPr>
            <a:r>
              <a:rPr lang="en-US" sz="900" dirty="0">
                <a:solidFill>
                  <a:srgbClr val="D6E4F0"/>
                </a:solidFill>
                <a:latin typeface="Arial" pitchFamily="34" charset="0"/>
                <a:cs typeface="Arial" pitchFamily="34" charset="0"/>
              </a:rPr>
              <a:t>did nearby stations move too?</a:t>
            </a:r>
          </a:p>
        </p:txBody>
      </p:sp>
      <p:sp>
        <p:nvSpPr>
          <p:cNvPr id="906" name="Arrow 3"/>
          <p:cNvSpPr/>
          <p:nvPr/>
        </p:nvSpPr>
        <p:spPr>
          <a:xfrm>
            <a:off x="7114763" y="4718304"/>
            <a:ext cx="192024" cy="155448"/>
          </a:xfrm>
          <a:prstGeom prst="rightArrow">
            <a:avLst/>
          </a:prstGeom>
          <a:solidFill>
            <a:srgbClr val="9AB7D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" name="Flow 4"/>
          <p:cNvSpPr/>
          <p:nvPr/>
        </p:nvSpPr>
        <p:spPr>
          <a:xfrm>
            <a:off x="7347935" y="4315968"/>
            <a:ext cx="1955535" cy="960120"/>
          </a:xfrm>
          <a:prstGeom prst="roundRect">
            <a:avLst>
              <a:gd name="adj" fmla="val 14000"/>
            </a:avLst>
          </a:prstGeom>
          <a:solidFill>
            <a:srgbClr val="2E75B6"/>
          </a:solidFill>
          <a:ln>
            <a:noFill/>
          </a:ln>
        </p:spPr>
        <p:txBody>
          <a:bodyPr lIns="54000" rIns="54000" tIns="45720" bIns="45720" anchor="ctr" wrap="square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SCORE</a:t>
            </a:r>
          </a:p>
          <a:p>
            <a:pPr algn="ctr">
              <a:buNone/>
            </a:pPr>
            <a:r>
              <a:rPr lang="en-US" sz="900" dirty="0">
                <a:solidFill>
                  <a:srgbClr val="D6E4F0"/>
                </a:solidFill>
                <a:latin typeface="Arial" pitchFamily="34" charset="0"/>
                <a:cs typeface="Arial" pitchFamily="34" charset="0"/>
              </a:rPr>
              <a:t>unsupervised, fixed alert budget</a:t>
            </a:r>
          </a:p>
        </p:txBody>
      </p:sp>
      <p:sp>
        <p:nvSpPr>
          <p:cNvPr id="908" name="Arrow 4"/>
          <p:cNvSpPr/>
          <p:nvPr/>
        </p:nvSpPr>
        <p:spPr>
          <a:xfrm>
            <a:off x="9344619" y="4718304"/>
            <a:ext cx="192024" cy="155448"/>
          </a:xfrm>
          <a:prstGeom prst="rightArrow">
            <a:avLst/>
          </a:prstGeom>
          <a:solidFill>
            <a:srgbClr val="9AB7D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" name="Flow 5"/>
          <p:cNvSpPr/>
          <p:nvPr/>
        </p:nvSpPr>
        <p:spPr>
          <a:xfrm>
            <a:off x="9577791" y="4315968"/>
            <a:ext cx="1955535" cy="960120"/>
          </a:xfrm>
          <a:prstGeom prst="roundRect">
            <a:avLst>
              <a:gd name="adj" fmla="val 14000"/>
            </a:avLst>
          </a:prstGeom>
          <a:solidFill>
            <a:srgbClr val="2E75B6"/>
          </a:solidFill>
          <a:ln>
            <a:noFill/>
          </a:ln>
        </p:spPr>
        <p:txBody>
          <a:bodyPr lIns="54000" rIns="54000" tIns="45720" bIns="45720" anchor="ctr" wrap="square">
            <a:norm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NAME + EXPLAIN</a:t>
            </a:r>
          </a:p>
          <a:p>
            <a:pPr algn="ctr">
              <a:buNone/>
            </a:pPr>
            <a:r>
              <a:rPr lang="en-US" sz="900" dirty="0">
                <a:solidFill>
                  <a:srgbClr val="D6E4F0"/>
                </a:solidFill>
                <a:latin typeface="Arial" pitchFamily="34" charset="0"/>
                <a:cs typeface="Arial" pitchFamily="34" charset="0"/>
              </a:rPr>
              <a:t>cause, confidence, or “unknown”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98448"/>
            <a:ext cx="1110996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A national network at 15-minute reporting is only a few records per second — one modest on-premise VM handles it with no GPU.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Methods are established and inspectable: robust regression, neighbour differencing, unsupervised scoring. Not a black box.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The station tier is inexpensive and runs on hardware already common in AWS deployments.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Station density — neighbour comparison only works where a nearby station is correlated enough to serve as a reference.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Genuine severe weather can look like a fault, risking false alarms during exactly the events that matter most.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Slow calibration drift never looks like an outlier at any single moment.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Alert fatigue: a system that flags too much gets switched off.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Strategies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Measure how inter-station differences grow with distance first, and let that measurement choose each station's neighbours.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Gate alerts on neighbour agreement, so a change the whole region shares reads as weather rather than a fault.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Freeze the baseline on approved data and track drift as a divergence growing over days, never from a single reading.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250" dirty="0">
                <a:latin typeface="Arial" pitchFamily="34" charset="0"/>
                <a:cs typeface="Arial" pitchFamily="34" charset="0"/>
              </a:rPr>
              <a:t>Cap alerts to a fixed budget per station-week, and abstain when uncertain.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600200"/>
            <a:ext cx="1110996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Potential impact on the target audience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IMD and MoES network operators get a ranked, named list of the stations needing attention, instead of raw observation streams to inspect.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Forecasting and numerical weather prediction gain cleaner input: bad observations are caught before they are assimilated.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Field maintenance is directed to the station that is actually faulty, and to the sensor within it.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Social — warnings and forecasts that reach the public rest on observations checked for sensor faults.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Economic — fewer wasted site visits, and instrument replacement planned from evidence of degradation rather than a fixed cycle.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Environmental — the node transmits only flagged readings and a periodic health summary; radio transmission dominates an AWS power budget, so a quieter uplink means a smaller power system.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Institutional — a long-term record whose quality is documented, which matters for climate-scale reuse of the archive.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783080"/>
            <a:ext cx="111099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IMD — M. N. Ranalkar et al., “Quality control of Automatic Weather Station data”, MAUSAM 66(1), 2015: the checks IMD applies today, including the spatial regression test.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IMD Vision 2047 (press release, 14 Jan 2025) — smart weather stations, AI for real-time quality control, and self-diagnosing instruments: internal.imd.gov.in/press_release/20250114_pr_3552.pdf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NCMRWF Technical Report NMRF/TR/02/2022 — observation quality control and buddy checks in the operational assimilation system.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NCMRWF operational dashboard and model guidance: nwp.ncmrwf.gov.in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WMO-No. 8, Guide to Instruments and Methods of Observation (CIMO Guide) — measurement uncertainty and siting classification.</a:t>
            </a:r>
          </a:p>
          <a:p>
            <a:pPr marL="742950" indent="-285750" algn="just">
              <a:buFont typeface="Arial" panose="020B0604020202020204" pitchFamily="34" charset="0"/>
              <a:buChar char="–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ECMWF ERA5 reanalysis via the Copernicus Climate Data Store — reference fields used to develop and test the method.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